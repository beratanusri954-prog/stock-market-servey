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USRI BERA" userId="2f02ef7364913837" providerId="LiveId" clId="{70D20527-8E8A-4EF5-B48A-83CBF0F2D7BC}"/>
    <pc:docChg chg="custSel addSld delSld modSld">
      <pc:chgData name="TANUSRI BERA" userId="2f02ef7364913837" providerId="LiveId" clId="{70D20527-8E8A-4EF5-B48A-83CBF0F2D7BC}" dt="2025-11-05T17:27:35.307" v="387" actId="1076"/>
      <pc:docMkLst>
        <pc:docMk/>
      </pc:docMkLst>
      <pc:sldChg chg="modSp mod">
        <pc:chgData name="TANUSRI BERA" userId="2f02ef7364913837" providerId="LiveId" clId="{70D20527-8E8A-4EF5-B48A-83CBF0F2D7BC}" dt="2025-11-05T17:17:33.490" v="14" actId="122"/>
        <pc:sldMkLst>
          <pc:docMk/>
          <pc:sldMk cId="2566163090" sldId="257"/>
        </pc:sldMkLst>
        <pc:graphicFrameChg chg="modGraphic">
          <ac:chgData name="TANUSRI BERA" userId="2f02ef7364913837" providerId="LiveId" clId="{70D20527-8E8A-4EF5-B48A-83CBF0F2D7BC}" dt="2025-11-05T17:17:33.490" v="14" actId="122"/>
          <ac:graphicFrameMkLst>
            <pc:docMk/>
            <pc:sldMk cId="2566163090" sldId="257"/>
            <ac:graphicFrameMk id="5" creationId="{86C126C3-6F9F-21BD-A5C1-A002B2EF9149}"/>
          </ac:graphicFrameMkLst>
        </pc:graphicFrameChg>
      </pc:sldChg>
      <pc:sldChg chg="modSp mod">
        <pc:chgData name="TANUSRI BERA" userId="2f02ef7364913837" providerId="LiveId" clId="{70D20527-8E8A-4EF5-B48A-83CBF0F2D7BC}" dt="2025-11-05T17:17:42.285" v="15" actId="122"/>
        <pc:sldMkLst>
          <pc:docMk/>
          <pc:sldMk cId="557199090" sldId="258"/>
        </pc:sldMkLst>
        <pc:graphicFrameChg chg="modGraphic">
          <ac:chgData name="TANUSRI BERA" userId="2f02ef7364913837" providerId="LiveId" clId="{70D20527-8E8A-4EF5-B48A-83CBF0F2D7BC}" dt="2025-11-05T17:17:42.285" v="15" actId="122"/>
          <ac:graphicFrameMkLst>
            <pc:docMk/>
            <pc:sldMk cId="557199090" sldId="258"/>
            <ac:graphicFrameMk id="4" creationId="{35DEDDC1-DF00-7A7F-F4CC-567A4D85FF5D}"/>
          </ac:graphicFrameMkLst>
        </pc:graphicFrameChg>
      </pc:sldChg>
      <pc:sldChg chg="modSp mod">
        <pc:chgData name="TANUSRI BERA" userId="2f02ef7364913837" providerId="LiveId" clId="{70D20527-8E8A-4EF5-B48A-83CBF0F2D7BC}" dt="2025-11-05T17:17:16.869" v="12" actId="255"/>
        <pc:sldMkLst>
          <pc:docMk/>
          <pc:sldMk cId="1191293243" sldId="259"/>
        </pc:sldMkLst>
        <pc:graphicFrameChg chg="modGraphic">
          <ac:chgData name="TANUSRI BERA" userId="2f02ef7364913837" providerId="LiveId" clId="{70D20527-8E8A-4EF5-B48A-83CBF0F2D7BC}" dt="2025-11-05T17:17:16.869" v="12" actId="255"/>
          <ac:graphicFrameMkLst>
            <pc:docMk/>
            <pc:sldMk cId="1191293243" sldId="259"/>
            <ac:graphicFrameMk id="4" creationId="{6151E3BA-2B89-230A-AE01-A741B25C0C2E}"/>
          </ac:graphicFrameMkLst>
        </pc:graphicFrameChg>
      </pc:sldChg>
      <pc:sldChg chg="modSp mod">
        <pc:chgData name="TANUSRI BERA" userId="2f02ef7364913837" providerId="LiveId" clId="{70D20527-8E8A-4EF5-B48A-83CBF0F2D7BC}" dt="2025-11-05T17:18:26.480" v="18" actId="255"/>
        <pc:sldMkLst>
          <pc:docMk/>
          <pc:sldMk cId="133238314" sldId="260"/>
        </pc:sldMkLst>
        <pc:graphicFrameChg chg="modGraphic">
          <ac:chgData name="TANUSRI BERA" userId="2f02ef7364913837" providerId="LiveId" clId="{70D20527-8E8A-4EF5-B48A-83CBF0F2D7BC}" dt="2025-11-05T17:18:26.480" v="18" actId="255"/>
          <ac:graphicFrameMkLst>
            <pc:docMk/>
            <pc:sldMk cId="133238314" sldId="260"/>
            <ac:graphicFrameMk id="3" creationId="{14BB960C-3CDF-F58C-F699-DF7B8A36702D}"/>
          </ac:graphicFrameMkLst>
        </pc:graphicFrameChg>
      </pc:sldChg>
      <pc:sldChg chg="modSp mod">
        <pc:chgData name="TANUSRI BERA" userId="2f02ef7364913837" providerId="LiveId" clId="{70D20527-8E8A-4EF5-B48A-83CBF0F2D7BC}" dt="2025-11-05T17:19:48.785" v="31" actId="255"/>
        <pc:sldMkLst>
          <pc:docMk/>
          <pc:sldMk cId="3441077774" sldId="261"/>
        </pc:sldMkLst>
        <pc:graphicFrameChg chg="modGraphic">
          <ac:chgData name="TANUSRI BERA" userId="2f02ef7364913837" providerId="LiveId" clId="{70D20527-8E8A-4EF5-B48A-83CBF0F2D7BC}" dt="2025-11-05T17:19:48.785" v="31" actId="255"/>
          <ac:graphicFrameMkLst>
            <pc:docMk/>
            <pc:sldMk cId="3441077774" sldId="261"/>
            <ac:graphicFrameMk id="2" creationId="{FDD54D66-0CD2-0901-B57D-09693643D719}"/>
          </ac:graphicFrameMkLst>
        </pc:graphicFrameChg>
      </pc:sldChg>
      <pc:sldChg chg="modSp mod">
        <pc:chgData name="TANUSRI BERA" userId="2f02ef7364913837" providerId="LiveId" clId="{70D20527-8E8A-4EF5-B48A-83CBF0F2D7BC}" dt="2025-11-05T17:20:33.516" v="34" actId="255"/>
        <pc:sldMkLst>
          <pc:docMk/>
          <pc:sldMk cId="171812730" sldId="262"/>
        </pc:sldMkLst>
        <pc:graphicFrameChg chg="modGraphic">
          <ac:chgData name="TANUSRI BERA" userId="2f02ef7364913837" providerId="LiveId" clId="{70D20527-8E8A-4EF5-B48A-83CBF0F2D7BC}" dt="2025-11-05T17:20:33.516" v="34" actId="255"/>
          <ac:graphicFrameMkLst>
            <pc:docMk/>
            <pc:sldMk cId="171812730" sldId="262"/>
            <ac:graphicFrameMk id="2" creationId="{D6C170D2-1F92-49AC-B1F5-7E4AFCF8CC67}"/>
          </ac:graphicFrameMkLst>
        </pc:graphicFrameChg>
      </pc:sldChg>
      <pc:sldChg chg="new del">
        <pc:chgData name="TANUSRI BERA" userId="2f02ef7364913837" providerId="LiveId" clId="{70D20527-8E8A-4EF5-B48A-83CBF0F2D7BC}" dt="2025-11-05T17:22:05.942" v="53" actId="2696"/>
        <pc:sldMkLst>
          <pc:docMk/>
          <pc:sldMk cId="1754174218" sldId="263"/>
        </pc:sldMkLst>
      </pc:sldChg>
      <pc:sldChg chg="new del">
        <pc:chgData name="TANUSRI BERA" userId="2f02ef7364913837" providerId="LiveId" clId="{70D20527-8E8A-4EF5-B48A-83CBF0F2D7BC}" dt="2025-11-05T17:21:14.776" v="36" actId="2696"/>
        <pc:sldMkLst>
          <pc:docMk/>
          <pc:sldMk cId="2654538960" sldId="263"/>
        </pc:sldMkLst>
      </pc:sldChg>
      <pc:sldChg chg="addSp delSp modSp new del mod">
        <pc:chgData name="TANUSRI BERA" userId="2f02ef7364913837" providerId="LiveId" clId="{70D20527-8E8A-4EF5-B48A-83CBF0F2D7BC}" dt="2025-11-05T17:21:45.018" v="50" actId="2696"/>
        <pc:sldMkLst>
          <pc:docMk/>
          <pc:sldMk cId="3327836153" sldId="263"/>
        </pc:sldMkLst>
        <pc:spChg chg="del mod">
          <ac:chgData name="TANUSRI BERA" userId="2f02ef7364913837" providerId="LiveId" clId="{70D20527-8E8A-4EF5-B48A-83CBF0F2D7BC}" dt="2025-11-05T17:21:39.619" v="49" actId="478"/>
          <ac:spMkLst>
            <pc:docMk/>
            <pc:sldMk cId="3327836153" sldId="263"/>
            <ac:spMk id="2" creationId="{810ABFE2-4387-B1A7-A87F-7E9E6C53FDC6}"/>
          </ac:spMkLst>
        </pc:spChg>
        <pc:spChg chg="add mod">
          <ac:chgData name="TANUSRI BERA" userId="2f02ef7364913837" providerId="LiveId" clId="{70D20527-8E8A-4EF5-B48A-83CBF0F2D7BC}" dt="2025-11-05T17:21:39.619" v="49" actId="478"/>
          <ac:spMkLst>
            <pc:docMk/>
            <pc:sldMk cId="3327836153" sldId="263"/>
            <ac:spMk id="4" creationId="{2860F96E-6311-3417-D3BD-FE1EF46974BA}"/>
          </ac:spMkLst>
        </pc:spChg>
      </pc:sldChg>
      <pc:sldChg chg="modSp new mod">
        <pc:chgData name="TANUSRI BERA" userId="2f02ef7364913837" providerId="LiveId" clId="{70D20527-8E8A-4EF5-B48A-83CBF0F2D7BC}" dt="2025-11-05T17:27:35.307" v="387" actId="1076"/>
        <pc:sldMkLst>
          <pc:docMk/>
          <pc:sldMk cId="4005535653" sldId="264"/>
        </pc:sldMkLst>
        <pc:spChg chg="mod">
          <ac:chgData name="TANUSRI BERA" userId="2f02ef7364913837" providerId="LiveId" clId="{70D20527-8E8A-4EF5-B48A-83CBF0F2D7BC}" dt="2025-11-05T17:22:34.364" v="65" actId="1076"/>
          <ac:spMkLst>
            <pc:docMk/>
            <pc:sldMk cId="4005535653" sldId="264"/>
            <ac:spMk id="2" creationId="{B2016F82-CD96-E1EB-A07C-E09A9E335565}"/>
          </ac:spMkLst>
        </pc:spChg>
        <pc:spChg chg="mod">
          <ac:chgData name="TANUSRI BERA" userId="2f02ef7364913837" providerId="LiveId" clId="{70D20527-8E8A-4EF5-B48A-83CBF0F2D7BC}" dt="2025-11-05T17:27:35.307" v="387" actId="1076"/>
          <ac:spMkLst>
            <pc:docMk/>
            <pc:sldMk cId="4005535653" sldId="264"/>
            <ac:spMk id="3" creationId="{27B619BF-977F-530F-08B1-E7E86B85CD7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5736-9978-D99C-8A10-96DB69AAC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51218-D555-8BCF-C78D-BC09F1B3C1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1364-E242-58C7-5BD0-A737DF72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F24DC-CEE4-5D8D-B5D6-B6D15D60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1C6E3-2669-2B54-D0BE-8AC8D92A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96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12EE-CF97-0C70-28A4-396CF72F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B56C-E13F-7115-C7C0-BEA9CA0B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9B9A0-74DF-4493-2EE8-18A2AC5EE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90D11-96A6-D35C-FCBB-A8B638EF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77EC7-3830-941E-5DFE-CF656248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12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293D-11F8-3BD8-CC91-E10A82C6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3E2CD-8F85-3B01-88EE-915FEA4B4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F50B8-92CB-1F77-FB37-791C403F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F4FF8-0552-26A5-6902-DB1DAFB6B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6CB4-E466-D27E-F903-D7D7E733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773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53F3-ACA3-5795-74A2-553AC3D3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529B5-E1FE-DEA0-BA91-70DC30DC4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D6F84-4CDC-2B93-FC5F-CEE4E3FCA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5BBBA-744A-F93A-3F31-79B556C79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00EFE-9528-E9A1-5DCD-380B7D70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445C1-58E5-E5D7-61DA-3CF76E25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56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3E80-93DD-DDFD-0E4C-F1D88458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34650-4EB6-6DA8-A153-B3000E3DB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E6CB0-B7C6-82EA-7CE8-88A03E012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5ADD85-BFD9-C5AD-E8C4-63A992B7B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67074-FE5E-29EE-4969-FC115F133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50C6B-0F31-BD86-B228-02290613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5B238-FB1A-7B46-1194-2261E23FC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01A72-54BF-010C-A388-EB323B3F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3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F752-3545-C76F-ABCF-34D9ACB3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7B8A4-D2D2-CEF7-4081-C278E5CD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AA045-1934-FF13-9F73-947A64379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522AC-4F3B-EEBF-0FD6-B691D32D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985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6A208-E4E2-3B1E-D1A3-5ED3AE45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1F9A3-F853-E894-9308-084FBD134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09F43-9169-74ED-6646-E891EFD0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18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049E-8C34-BC29-4978-F3F9EB5E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FF59F-DF76-1570-4A05-96E874DE0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6834-62C9-F2B2-468B-ED9E39194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C22FA-7FB6-79D5-9956-3167B92A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3C6BC-EAB2-1AB9-FC74-084AB935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BE6C4-F229-1A36-1741-01D6A690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00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82BF-1C5B-1FDC-148B-F1CFB34D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56FB8-9D45-EAC3-FB9B-06F5EA3E1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22583-34FE-6A81-9EE3-F661EDE28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C8CD6-2AE2-A596-FC53-9680D2A5E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0EA26-BA01-C7F1-01E4-092031BC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67C97-E806-0B03-A7B7-AA017BC1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61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0C8D-060D-9667-3690-C1083F48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C9C04-5A3A-0618-629A-BD844D7E7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0944-AC8A-16FF-B954-E95891DC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9680-236B-BAF9-645E-E5C5CB9F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99DAD-DD20-E537-CC7D-6D45B3A0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28455C-8B7E-D519-E153-EDE98C762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7AEDE-B593-D022-E1EB-9EDA1B62D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04380-20F8-5E68-AD92-BAD809D9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ECC95-E777-9489-9F25-D32BD0BC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4C13D-71FA-D80E-4158-8F630BC9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98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321787-F177-0451-45AB-A656D95D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17861-EDA2-39E9-251E-91D5F461B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09001-6167-9FEE-CAFE-996F92387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9497D-39EF-4122-B5AC-6C6D4672F88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C90C2-EC03-0144-F292-2AE28C945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23BE2-779E-A460-7717-D6CA43840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962C1-C7F7-4C4E-94BB-5F6F360E78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8718-F421-1CCE-4877-75D37CAC90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B2D4B-8A0C-B193-928C-05878F421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72091-3DC4-1017-20EF-DA55A4D6D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8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C126C3-6F9F-21BD-A5C1-A002B2EF91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9974091"/>
              </p:ext>
            </p:extLst>
          </p:nvPr>
        </p:nvGraphicFramePr>
        <p:xfrm>
          <a:off x="12032" y="0"/>
          <a:ext cx="12179969" cy="6920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066">
                  <a:extLst>
                    <a:ext uri="{9D8B030D-6E8A-4147-A177-3AD203B41FA5}">
                      <a16:colId xmlns:a16="http://schemas.microsoft.com/office/drawing/2014/main" val="3502900942"/>
                    </a:ext>
                  </a:extLst>
                </a:gridCol>
                <a:gridCol w="2097069">
                  <a:extLst>
                    <a:ext uri="{9D8B030D-6E8A-4147-A177-3AD203B41FA5}">
                      <a16:colId xmlns:a16="http://schemas.microsoft.com/office/drawing/2014/main" val="496278693"/>
                    </a:ext>
                  </a:extLst>
                </a:gridCol>
                <a:gridCol w="1604034">
                  <a:extLst>
                    <a:ext uri="{9D8B030D-6E8A-4147-A177-3AD203B41FA5}">
                      <a16:colId xmlns:a16="http://schemas.microsoft.com/office/drawing/2014/main" val="2856555320"/>
                    </a:ext>
                  </a:extLst>
                </a:gridCol>
                <a:gridCol w="1586188">
                  <a:extLst>
                    <a:ext uri="{9D8B030D-6E8A-4147-A177-3AD203B41FA5}">
                      <a16:colId xmlns:a16="http://schemas.microsoft.com/office/drawing/2014/main" val="281696105"/>
                    </a:ext>
                  </a:extLst>
                </a:gridCol>
                <a:gridCol w="3290612">
                  <a:extLst>
                    <a:ext uri="{9D8B030D-6E8A-4147-A177-3AD203B41FA5}">
                      <a16:colId xmlns:a16="http://schemas.microsoft.com/office/drawing/2014/main" val="2731658718"/>
                    </a:ext>
                  </a:extLst>
                </a:gridCol>
              </a:tblGrid>
              <a:tr h="5895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Mutual  funds name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 Sharpe ratio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Benchmark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Rank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Remark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091672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3.17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66039874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2.69</a:t>
                      </a: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8114510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2.66</a:t>
                      </a: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91596727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32103232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2.16</a:t>
                      </a: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2303004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34659231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2.6</a:t>
                      </a: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5.88</a:t>
                      </a:r>
                      <a:r>
                        <a:rPr lang="en-IN" sz="1400" b="1" i="0" u="none" strike="noStrike">
                          <a:solidFill>
                            <a:srgbClr val="CC3D3D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IN" sz="1400" b="1" i="0" u="none" strike="noStrike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839714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2.04</a:t>
                      </a: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648036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1.76</a:t>
                      </a: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 dirty="0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190470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5892751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1.3</a:t>
                      </a: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IN" sz="1400" b="1" i="0" u="none" strike="noStrike">
                        <a:solidFill>
                          <a:srgbClr val="22222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02999282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666666"/>
                          </a:solidFill>
                          <a:effectLst/>
                          <a:latin typeface="Arial" panose="020B0604020202020204" pitchFamily="34" charset="0"/>
                        </a:rPr>
                        <a:t> 5.88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Poor risk-adjusted returns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443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16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DEDDC1-DF00-7A7F-F4CC-567A4D85FF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407827"/>
              </p:ext>
            </p:extLst>
          </p:nvPr>
        </p:nvGraphicFramePr>
        <p:xfrm>
          <a:off x="0" y="0"/>
          <a:ext cx="14090650" cy="6977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650">
                  <a:extLst>
                    <a:ext uri="{9D8B030D-6E8A-4147-A177-3AD203B41FA5}">
                      <a16:colId xmlns:a16="http://schemas.microsoft.com/office/drawing/2014/main" val="10682055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4156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69338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19422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497170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3055683"/>
                    </a:ext>
                  </a:extLst>
                </a:gridCol>
              </a:tblGrid>
              <a:tr h="4826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Mutual  funds name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amu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Dispartion</a:t>
                      </a: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 of amu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Rank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9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334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776.5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00429934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₹15,446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#VALUE!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982.5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52464318"/>
                  </a:ext>
                </a:extLst>
              </a:tr>
              <a:tr h="5260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₹13,402 Cr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#VALUE!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982.5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2985959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₹8,259 Cr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#VALUE!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298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812.5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52445"/>
                  </a:ext>
                </a:extLst>
              </a:tr>
              <a:tr h="5260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₹7,133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-298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521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589.5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64375330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₹2,989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-521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812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11671183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₹1,409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#VALUE!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1409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-298.5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563920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₹812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-298.5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2989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-1878.5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2493670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₹521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#VALUE!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7133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-6022.5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50913181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₹334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-7133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8259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-7148.5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66611567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₹298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-7148.5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13402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-12291.5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6291547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₹128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-13402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15446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-14335.5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5190529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₹128 Cr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-14335.5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4686217"/>
                  </a:ext>
                </a:extLst>
              </a:tr>
              <a:tr h="48266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MEADIAN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1110.5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66091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19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51E3BA-2B89-230A-AE01-A741B25C0C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480977"/>
              </p:ext>
            </p:extLst>
          </p:nvPr>
        </p:nvGraphicFramePr>
        <p:xfrm>
          <a:off x="0" y="0"/>
          <a:ext cx="12192000" cy="6858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159853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321607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91250669"/>
                    </a:ext>
                  </a:extLst>
                </a:gridCol>
              </a:tblGrid>
              <a:tr h="5275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Mutual  funds name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 err="1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expence</a:t>
                      </a: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 ratio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Rank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8156211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0.12%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88743396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Calibri" panose="020F0502020204030204" pitchFamily="34" charset="0"/>
                        </a:rPr>
                        <a:t>0.19%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70600862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51971679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0.24%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9856617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46616316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7499124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0.26%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5896643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0.26%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91191121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0.30%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95727823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0.35% 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2985600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0.37%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7590303"/>
                  </a:ext>
                </a:extLst>
              </a:tr>
              <a:tr h="5275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0.39%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266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29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BB960C-3CDF-F58C-F699-DF7B8A367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756241"/>
              </p:ext>
            </p:extLst>
          </p:nvPr>
        </p:nvGraphicFramePr>
        <p:xfrm>
          <a:off x="0" y="0"/>
          <a:ext cx="12192000" cy="6857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0173897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377064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45574377"/>
                    </a:ext>
                  </a:extLst>
                </a:gridCol>
              </a:tblGrid>
              <a:tr h="5275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i="0" u="none" strike="noStrike" dirty="0">
                          <a:solidFill>
                            <a:srgbClr val="C65911"/>
                          </a:solidFill>
                          <a:effectLst/>
                          <a:latin typeface="Bauhaus 93" panose="04030905020B02020C02" pitchFamily="82" charset="0"/>
                        </a:rPr>
                        <a:t>Mutual  funds name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i="0" u="none" strike="noStrike" dirty="0" err="1">
                          <a:solidFill>
                            <a:srgbClr val="C65911"/>
                          </a:solidFill>
                          <a:effectLst/>
                          <a:latin typeface="Bauhaus 93" panose="04030905020B02020C02" pitchFamily="82" charset="0"/>
                        </a:rPr>
                        <a:t>exitload</a:t>
                      </a:r>
                      <a:endParaRPr lang="en-IN" sz="2800" b="0" i="0" u="none" strike="noStrike" dirty="0">
                        <a:solidFill>
                          <a:srgbClr val="C65911"/>
                        </a:solidFill>
                        <a:effectLst/>
                        <a:latin typeface="Bauhaus 93" panose="04030905020B02020C02" pitchFamily="82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0" i="0" u="none" strike="noStrike" dirty="0">
                          <a:solidFill>
                            <a:srgbClr val="C65911"/>
                          </a:solidFill>
                          <a:effectLst/>
                          <a:latin typeface="Bauhaus 93" panose="04030905020B02020C02" pitchFamily="82" charset="0"/>
                        </a:rPr>
                        <a:t>Rank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46385320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32794522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35315180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9760842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2439679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72609713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23363555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4359567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7057233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42223227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8053166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75865626"/>
                  </a:ext>
                </a:extLst>
              </a:tr>
              <a:tr h="5275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161616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16196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3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D54D66-0CD2-0901-B57D-09693643D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046027"/>
              </p:ext>
            </p:extLst>
          </p:nvPr>
        </p:nvGraphicFramePr>
        <p:xfrm>
          <a:off x="0" y="0"/>
          <a:ext cx="12192000" cy="685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0126">
                  <a:extLst>
                    <a:ext uri="{9D8B030D-6E8A-4147-A177-3AD203B41FA5}">
                      <a16:colId xmlns:a16="http://schemas.microsoft.com/office/drawing/2014/main" val="3623490780"/>
                    </a:ext>
                  </a:extLst>
                </a:gridCol>
                <a:gridCol w="2947737">
                  <a:extLst>
                    <a:ext uri="{9D8B030D-6E8A-4147-A177-3AD203B41FA5}">
                      <a16:colId xmlns:a16="http://schemas.microsoft.com/office/drawing/2014/main" val="2091599408"/>
                    </a:ext>
                  </a:extLst>
                </a:gridCol>
                <a:gridCol w="1311442">
                  <a:extLst>
                    <a:ext uri="{9D8B030D-6E8A-4147-A177-3AD203B41FA5}">
                      <a16:colId xmlns:a16="http://schemas.microsoft.com/office/drawing/2014/main" val="2765769299"/>
                    </a:ext>
                  </a:extLst>
                </a:gridCol>
                <a:gridCol w="1648327">
                  <a:extLst>
                    <a:ext uri="{9D8B030D-6E8A-4147-A177-3AD203B41FA5}">
                      <a16:colId xmlns:a16="http://schemas.microsoft.com/office/drawing/2014/main" val="4241959119"/>
                    </a:ext>
                  </a:extLst>
                </a:gridCol>
                <a:gridCol w="1664368">
                  <a:extLst>
                    <a:ext uri="{9D8B030D-6E8A-4147-A177-3AD203B41FA5}">
                      <a16:colId xmlns:a16="http://schemas.microsoft.com/office/drawing/2014/main" val="1074596114"/>
                    </a:ext>
                  </a:extLst>
                </a:gridCol>
              </a:tblGrid>
              <a:tr h="4856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Mutual  funds name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Standard deviation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Median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Nav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Rank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48230088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83.39403147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1305.9432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0.063857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0259878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21.98924172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323.8735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0.067895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8279214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0.796134841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11.70525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0.068015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98306703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0.846553675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12.15205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0.069663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38973595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0.827132314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11.80545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0.070064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7939035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3.017383513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42.7668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0.070554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21743413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3.25107241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45.90335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0.070824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73187480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99.41459977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1387.0196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0.071675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08552011"/>
                  </a:ext>
                </a:extLst>
              </a:tr>
              <a:tr h="6670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30.28185511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417.3697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0.072554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85745832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2.980900146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39.7957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0.074905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7418457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0.903691812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11.9646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0.07553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5639926"/>
                  </a:ext>
                </a:extLst>
              </a:tr>
              <a:tr h="485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89.90265612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1171.9649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0.076711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3467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07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C170D2-1F92-49AC-B1F5-7E4AFCF8C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22355"/>
              </p:ext>
            </p:extLst>
          </p:nvPr>
        </p:nvGraphicFramePr>
        <p:xfrm>
          <a:off x="0" y="0"/>
          <a:ext cx="12192000" cy="6949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84">
                  <a:extLst>
                    <a:ext uri="{9D8B030D-6E8A-4147-A177-3AD203B41FA5}">
                      <a16:colId xmlns:a16="http://schemas.microsoft.com/office/drawing/2014/main" val="2260881052"/>
                    </a:ext>
                  </a:extLst>
                </a:gridCol>
                <a:gridCol w="2370221">
                  <a:extLst>
                    <a:ext uri="{9D8B030D-6E8A-4147-A177-3AD203B41FA5}">
                      <a16:colId xmlns:a16="http://schemas.microsoft.com/office/drawing/2014/main" val="434306440"/>
                    </a:ext>
                  </a:extLst>
                </a:gridCol>
                <a:gridCol w="2322095">
                  <a:extLst>
                    <a:ext uri="{9D8B030D-6E8A-4147-A177-3AD203B41FA5}">
                      <a16:colId xmlns:a16="http://schemas.microsoft.com/office/drawing/2014/main" val="1681045225"/>
                    </a:ext>
                  </a:extLst>
                </a:gridCol>
                <a:gridCol w="2141621">
                  <a:extLst>
                    <a:ext uri="{9D8B030D-6E8A-4147-A177-3AD203B41FA5}">
                      <a16:colId xmlns:a16="http://schemas.microsoft.com/office/drawing/2014/main" val="385830314"/>
                    </a:ext>
                  </a:extLst>
                </a:gridCol>
                <a:gridCol w="2303379">
                  <a:extLst>
                    <a:ext uri="{9D8B030D-6E8A-4147-A177-3AD203B41FA5}">
                      <a16:colId xmlns:a16="http://schemas.microsoft.com/office/drawing/2014/main" val="13206877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28790316"/>
                    </a:ext>
                  </a:extLst>
                </a:gridCol>
              </a:tblGrid>
              <a:tr h="293729">
                <a:tc row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8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      Name of Mutual Funds</a:t>
                      </a:r>
                    </a:p>
                  </a:txBody>
                  <a:tcPr marL="6350" marR="6350" marT="6350" marB="0" vert="vert27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Sharp Ratio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AUM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 err="1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ExitLoad</a:t>
                      </a:r>
                      <a:endParaRPr lang="en-IN" sz="2000" b="1" i="0" u="none" strike="noStrike" dirty="0">
                        <a:solidFill>
                          <a:srgbClr val="C6591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 err="1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Expance</a:t>
                      </a: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 Ratio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C65911"/>
                          </a:solidFill>
                          <a:effectLst/>
                          <a:latin typeface="Arial Black" panose="020B0A04020102020204" pitchFamily="34" charset="0"/>
                        </a:rPr>
                        <a:t>NAV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282906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1423106"/>
                  </a:ext>
                </a:extLst>
              </a:tr>
              <a:tr h="6393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79158590"/>
                  </a:ext>
                </a:extLst>
              </a:tr>
              <a:tr h="6393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26733530"/>
                  </a:ext>
                </a:extLst>
              </a:tr>
              <a:tr h="6393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98526904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61540058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Aditya Birla Sun Life Floating Rate Direct Fund-Growth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5350353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80046654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HDFC Floating Rate Debt Fund Direct Plan-Growth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Kotak Floating Rate Fund Direct - 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2254343"/>
                  </a:ext>
                </a:extLst>
              </a:tr>
              <a:tr h="6393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16402441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Bandhan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Nippon India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ptos" panose="020B0004020202020204" pitchFamily="34" charset="0"/>
                        </a:rPr>
                        <a:t>Franklin India Floating Rate Fund Direct-Growth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73329833"/>
                  </a:ext>
                </a:extLst>
              </a:tr>
              <a:tr h="48104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UTI Floater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DSP Floater Fund Direct - 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1964025"/>
                  </a:ext>
                </a:extLst>
              </a:tr>
              <a:tr h="6393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Tata Floating Rate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SBI Floating Rate Debt Fund Direct - 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ICICI Prudential Floating Interest Fund Direct Plan -Growth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Axis Floater Fund Direct-Growth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909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1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6F82-CD96-E1EB-A07C-E09A9E335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621" y="903997"/>
            <a:ext cx="9144000" cy="1392405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619BF-977F-530F-08B1-E7E86B85C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6432" y="2832016"/>
            <a:ext cx="7042484" cy="2534067"/>
          </a:xfrm>
        </p:spPr>
        <p:txBody>
          <a:bodyPr>
            <a:normAutofit fontScale="55000" lnSpcReduction="20000"/>
          </a:bodyPr>
          <a:lstStyle/>
          <a:p>
            <a:r>
              <a:rPr lang="en-IN" sz="4000" dirty="0"/>
              <a:t>BY -----</a:t>
            </a:r>
          </a:p>
          <a:p>
            <a:r>
              <a:rPr lang="en-IN" sz="4000" dirty="0"/>
              <a:t>                                   AYANIKA SHAW</a:t>
            </a:r>
          </a:p>
          <a:p>
            <a:r>
              <a:rPr lang="en-IN" sz="4000" dirty="0"/>
              <a:t>                                          DIPANJANA KUNDU</a:t>
            </a:r>
          </a:p>
          <a:p>
            <a:r>
              <a:rPr lang="en-IN" sz="4000" dirty="0"/>
              <a:t>                                     KAMALINA PAUL</a:t>
            </a:r>
          </a:p>
          <a:p>
            <a:r>
              <a:rPr lang="en-IN" sz="4000" dirty="0"/>
              <a:t>                                  RUPSA KUNDU</a:t>
            </a:r>
          </a:p>
          <a:p>
            <a:r>
              <a:rPr lang="en-IN" sz="4000" dirty="0"/>
              <a:t>                                 SNEHA BASAK</a:t>
            </a:r>
          </a:p>
          <a:p>
            <a:r>
              <a:rPr lang="en-IN" sz="4000" dirty="0"/>
              <a:t>                                  TANUSRI BERA</a:t>
            </a:r>
          </a:p>
          <a:p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53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1144</Words>
  <Application>Microsoft Office PowerPoint</Application>
  <PresentationFormat>Widescreen</PresentationFormat>
  <Paragraphs>360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Arial Black</vt:lpstr>
      <vt:lpstr>Bauhaus 93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TANUSRI BERA</dc:creator>
  <cp:lastModifiedBy>TANUSRI BERA</cp:lastModifiedBy>
  <cp:revision>1</cp:revision>
  <dcterms:created xsi:type="dcterms:W3CDTF">2025-11-05T16:40:33Z</dcterms:created>
  <dcterms:modified xsi:type="dcterms:W3CDTF">2025-11-05T17:27:38Z</dcterms:modified>
</cp:coreProperties>
</file>